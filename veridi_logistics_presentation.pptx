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a Tenkorang" userId="a40b4ec4-8edb-4146-96fa-bcd28e8b0fac" providerId="ADAL" clId="{2E99353F-591A-498E-A5C3-B5ECD380E5CD}"/>
    <pc:docChg chg="modSld">
      <pc:chgData name="Angela Tenkorang" userId="a40b4ec4-8edb-4146-96fa-bcd28e8b0fac" providerId="ADAL" clId="{2E99353F-591A-498E-A5C3-B5ECD380E5CD}" dt="2026-04-27T11:03:21.335" v="3" actId="20577"/>
      <pc:docMkLst>
        <pc:docMk/>
      </pc:docMkLst>
      <pc:sldChg chg="modSp mod">
        <pc:chgData name="Angela Tenkorang" userId="a40b4ec4-8edb-4146-96fa-bcd28e8b0fac" providerId="ADAL" clId="{2E99353F-591A-498E-A5C3-B5ECD380E5CD}" dt="2026-04-27T11:03:11.970" v="1" actId="20577"/>
        <pc:sldMkLst>
          <pc:docMk/>
          <pc:sldMk cId="0" sldId="258"/>
        </pc:sldMkLst>
        <pc:spChg chg="mod">
          <ac:chgData name="Angela Tenkorang" userId="a40b4ec4-8edb-4146-96fa-bcd28e8b0fac" providerId="ADAL" clId="{2E99353F-591A-498E-A5C3-B5ECD380E5CD}" dt="2026-04-27T11:03:11.970" v="1" actId="20577"/>
          <ac:spMkLst>
            <pc:docMk/>
            <pc:sldMk cId="0" sldId="258"/>
            <ac:spMk id="32" creationId="{00000000-0000-0000-0000-000000000000}"/>
          </ac:spMkLst>
        </pc:spChg>
      </pc:sldChg>
      <pc:sldChg chg="modSp mod">
        <pc:chgData name="Angela Tenkorang" userId="a40b4ec4-8edb-4146-96fa-bcd28e8b0fac" providerId="ADAL" clId="{2E99353F-591A-498E-A5C3-B5ECD380E5CD}" dt="2026-04-27T11:03:21.335" v="3" actId="20577"/>
        <pc:sldMkLst>
          <pc:docMk/>
          <pc:sldMk cId="0" sldId="261"/>
        </pc:sldMkLst>
        <pc:spChg chg="mod">
          <ac:chgData name="Angela Tenkorang" userId="a40b4ec4-8edb-4146-96fa-bcd28e8b0fac" providerId="ADAL" clId="{2E99353F-591A-498E-A5C3-B5ECD380E5CD}" dt="2026-04-27T11:03:21.335" v="3" actId="20577"/>
          <ac:spMkLst>
            <pc:docMk/>
            <pc:sldMk cId="0" sldId="261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 Rate %</c:v>
                </c:pt>
              </c:strCache>
            </c:strRef>
          </c:tx>
          <c:spPr>
            <a:ln w="31750" cap="flat">
              <a:solidFill>
                <a:srgbClr val="E74C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74C3C"/>
              </a:solidFill>
              <a:ln w="9525" cap="flat">
                <a:solidFill>
                  <a:srgbClr val="E74C3C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Oct-16</c:v>
                </c:pt>
                <c:pt idx="1">
                  <c:v>Jan-17</c:v>
                </c:pt>
                <c:pt idx="2">
                  <c:v>Apr-17</c:v>
                </c:pt>
                <c:pt idx="3">
                  <c:v>Jul-17</c:v>
                </c:pt>
                <c:pt idx="4">
                  <c:v>Oct-17</c:v>
                </c:pt>
                <c:pt idx="5">
                  <c:v>Jan-18</c:v>
                </c:pt>
                <c:pt idx="6">
                  <c:v>Apr-18</c:v>
                </c:pt>
                <c:pt idx="7">
                  <c:v>Jul-18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3.2</c:v>
                </c:pt>
                <c:pt idx="1">
                  <c:v>4.0999999999999996</c:v>
                </c:pt>
                <c:pt idx="2">
                  <c:v>5.8</c:v>
                </c:pt>
                <c:pt idx="3">
                  <c:v>6.2</c:v>
                </c:pt>
                <c:pt idx="4">
                  <c:v>7.5</c:v>
                </c:pt>
                <c:pt idx="5">
                  <c:v>9.1</c:v>
                </c:pt>
                <c:pt idx="6">
                  <c:v>11.3</c:v>
                </c:pt>
                <c:pt idx="7">
                  <c:v>8.6999999999999993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7DD-4C69-9D80-17EED5E9B9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6923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D6FA6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kern="0" spc="4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VERIDI LOGISTICS</a:t>
            </a:r>
            <a:endParaRPr lang="en-US" sz="440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>
                <a:solidFill>
                  <a:srgbClr val="D6E8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Performance Audit</a:t>
            </a:r>
            <a:endParaRPr lang="en-US" sz="2400"/>
          </a:p>
        </p:txBody>
      </p:sp>
      <p:sp>
        <p:nvSpPr>
          <p:cNvPr id="7" name="Shape 5"/>
          <p:cNvSpPr/>
          <p:nvPr/>
        </p:nvSpPr>
        <p:spPr>
          <a:xfrm>
            <a:off x="2743200" y="2286000"/>
            <a:ext cx="3657600" cy="0"/>
          </a:xfrm>
          <a:prstGeom prst="line">
            <a:avLst/>
          </a:prstGeom>
          <a:noFill/>
          <a:ln w="25400">
            <a:solidFill>
              <a:srgbClr val="2D6FA6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A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Olist Brazilian E-Commerce Dataset  |  98,207 Orders Audited  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E8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Angela Tenkorang  |  AmaliTech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8BA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BUSINESS PROBLEM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3035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CEO's Question</a:t>
            </a:r>
            <a:endParaRPr lang="en-US" sz="1800"/>
          </a:p>
          <a:p>
            <a:pPr marL="0" indent="0">
              <a:buNone/>
            </a:pPr>
            <a:r>
              <a:rPr lang="en-US" sz="80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800"/>
          </a:p>
          <a:p>
            <a:pPr marL="0" indent="0">
              <a:buNone/>
            </a:pPr>
            <a:r>
              <a:rPr lang="en-US" sz="1500" i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"Are we failing specific regions</a:t>
            </a:r>
            <a:endParaRPr lang="en-US" sz="1800"/>
          </a:p>
          <a:p>
            <a:pPr marL="0" indent="0">
              <a:buNone/>
            </a:pPr>
            <a:r>
              <a:rPr lang="en-US" sz="1500" i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is this a nationwide problem?"</a:t>
            </a:r>
            <a:endParaRPr lang="en-US" sz="180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in negative customer reviews</a:t>
            </a:r>
            <a:endParaRPr lang="en-US" sz="1300"/>
          </a:p>
          <a:p>
            <a:pPr marL="342900" indent="-342900">
              <a:buSzPct val="100000"/>
              <a:buChar char="•"/>
            </a:pPr>
            <a:r>
              <a:rPr lang="en-US" sz="130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dates suspected to be over-promised</a:t>
            </a:r>
            <a:endParaRPr lang="en-US" sz="1300"/>
          </a:p>
          <a:p>
            <a:pPr marL="342900" indent="-342900">
              <a:buSzPct val="100000"/>
              <a:buChar char="•"/>
            </a:pPr>
            <a:r>
              <a:rPr lang="en-US" sz="130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 to pinpoint the root cause</a:t>
            </a:r>
            <a:endParaRPr lang="en-US" sz="1300"/>
          </a:p>
          <a:p>
            <a:pPr marL="342900" indent="-342900">
              <a:buSzPct val="100000"/>
              <a:buChar char="•"/>
            </a:pPr>
            <a:r>
              <a:rPr lang="en-US" sz="130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98,207 orders audited across Brazil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6217920" y="914400"/>
            <a:ext cx="2560320" cy="914400"/>
          </a:xfrm>
          <a:prstGeom prst="rect">
            <a:avLst/>
          </a:prstGeom>
          <a:solidFill>
            <a:srgbClr val="E74C3C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6217920" y="9144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Lost Revenue</a:t>
            </a:r>
            <a:endParaRPr lang="en-US" sz="1600"/>
          </a:p>
        </p:txBody>
      </p:sp>
      <p:sp>
        <p:nvSpPr>
          <p:cNvPr id="9" name="Shape 7"/>
          <p:cNvSpPr/>
          <p:nvPr/>
        </p:nvSpPr>
        <p:spPr>
          <a:xfrm>
            <a:off x="6217920" y="2103120"/>
            <a:ext cx="2560320" cy="914400"/>
          </a:xfrm>
          <a:prstGeom prst="rect">
            <a:avLst/>
          </a:prstGeom>
          <a:solidFill>
            <a:srgbClr val="F39C1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6217920" y="210312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Bad Reviews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6217920" y="3291840"/>
            <a:ext cx="2560320" cy="914400"/>
          </a:xfrm>
          <a:prstGeom prst="rect">
            <a:avLst/>
          </a:prstGeom>
          <a:solidFill>
            <a:srgbClr val="2D6FA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6217920" y="32918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Root Cause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audit connects the dots between logistics data and customer sentiment.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SPRINT-BASED APPROACH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was broken into structured sprints ,each with a clear goal and deliverable, building on the previous.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457200" cy="146304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/>
          </a:p>
        </p:txBody>
      </p:sp>
      <p:sp>
        <p:nvSpPr>
          <p:cNvPr id="8" name="Text 6"/>
          <p:cNvSpPr/>
          <p:nvPr/>
        </p:nvSpPr>
        <p:spPr>
          <a:xfrm>
            <a:off x="822960" y="1417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Table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4 CSV files into one clean master dataset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3246120" y="1280160"/>
            <a:ext cx="457200" cy="146304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3246120" y="128016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794760" y="1417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 Calculator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3794760" y="17830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Days_Difference and classify On Time / Late / Super Late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6" name="Shape 14"/>
          <p:cNvSpPr/>
          <p:nvPr/>
        </p:nvSpPr>
        <p:spPr>
          <a:xfrm>
            <a:off x="6217920" y="1280160"/>
            <a:ext cx="457200" cy="1463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6217920" y="128016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6766560" y="14173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Map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766560" y="17830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late delivery rates across all 27 Brazilian states</a:t>
            </a:r>
            <a:endParaRPr lang="en-US" sz="1100"/>
          </a:p>
        </p:txBody>
      </p:sp>
      <p:sp>
        <p:nvSpPr>
          <p:cNvPr id="20" name="Shape 18"/>
          <p:cNvSpPr/>
          <p:nvPr/>
        </p:nvSpPr>
        <p:spPr>
          <a:xfrm>
            <a:off x="274320" y="301752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457200" cy="146304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274320" y="301752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/>
          </a:p>
        </p:txBody>
      </p:sp>
      <p:sp>
        <p:nvSpPr>
          <p:cNvPr id="23" name="Text 21"/>
          <p:cNvSpPr/>
          <p:nvPr/>
        </p:nvSpPr>
        <p:spPr>
          <a:xfrm>
            <a:off x="822960" y="31546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Smoking Gun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822960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that late deliveries directly cause bad customer reviews</a:t>
            </a:r>
            <a:endParaRPr lang="en-US" sz="1100"/>
          </a:p>
        </p:txBody>
      </p:sp>
      <p:sp>
        <p:nvSpPr>
          <p:cNvPr id="25" name="Shape 23"/>
          <p:cNvSpPr/>
          <p:nvPr/>
        </p:nvSpPr>
        <p:spPr>
          <a:xfrm>
            <a:off x="3246120" y="301752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6" name="Shape 24"/>
          <p:cNvSpPr/>
          <p:nvPr/>
        </p:nvSpPr>
        <p:spPr>
          <a:xfrm>
            <a:off x="3246120" y="3017520"/>
            <a:ext cx="457200" cy="146304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7" name="Text 25"/>
          <p:cNvSpPr/>
          <p:nvPr/>
        </p:nvSpPr>
        <p:spPr>
          <a:xfrm>
            <a:off x="3246120" y="301752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000"/>
          </a:p>
        </p:txBody>
      </p:sp>
      <p:sp>
        <p:nvSpPr>
          <p:cNvPr id="28" name="Text 26"/>
          <p:cNvSpPr/>
          <p:nvPr/>
        </p:nvSpPr>
        <p:spPr>
          <a:xfrm>
            <a:off x="3794760" y="31546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3794760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 product categories from Portuguese to English</a:t>
            </a:r>
            <a:endParaRPr lang="en-US" sz="1100"/>
          </a:p>
        </p:txBody>
      </p:sp>
      <p:sp>
        <p:nvSpPr>
          <p:cNvPr id="30" name="Shape 28"/>
          <p:cNvSpPr/>
          <p:nvPr/>
        </p:nvSpPr>
        <p:spPr>
          <a:xfrm>
            <a:off x="6217920" y="3017520"/>
            <a:ext cx="27432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31" name="Shape 29"/>
          <p:cNvSpPr/>
          <p:nvPr/>
        </p:nvSpPr>
        <p:spPr>
          <a:xfrm>
            <a:off x="6217920" y="3017520"/>
            <a:ext cx="457200" cy="14630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2" name="Text 30"/>
          <p:cNvSpPr/>
          <p:nvPr/>
        </p:nvSpPr>
        <p:spPr>
          <a:xfrm>
            <a:off x="6217920" y="3017520"/>
            <a:ext cx="457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</a:rPr>
              <a:t>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766560" y="31546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Trend</a:t>
            </a:r>
            <a:endParaRPr lang="en-US" sz="1300"/>
          </a:p>
        </p:txBody>
      </p:sp>
      <p:sp>
        <p:nvSpPr>
          <p:cNvPr id="34" name="Text 32"/>
          <p:cNvSpPr/>
          <p:nvPr/>
        </p:nvSpPr>
        <p:spPr>
          <a:xfrm>
            <a:off x="6766560" y="352044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whether the problem is getting better or worse over time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DELIVERY PERFORMANCE OVERVIEW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011680" cy="109728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36576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ORDERS</a:t>
            </a:r>
            <a:endParaRPr lang="en-US" sz="1000"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1A3A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98,207</a:t>
            </a:r>
            <a:endParaRPr lang="en-US" sz="3000"/>
          </a:p>
        </p:txBody>
      </p:sp>
      <p:sp>
        <p:nvSpPr>
          <p:cNvPr id="9" name="Text 7"/>
          <p:cNvSpPr/>
          <p:nvPr/>
        </p:nvSpPr>
        <p:spPr>
          <a:xfrm>
            <a:off x="36576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delivered orders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2468880" y="1234440"/>
            <a:ext cx="2011680" cy="109728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256032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TIME</a:t>
            </a:r>
            <a:endParaRPr lang="en-US" sz="1000"/>
          </a:p>
        </p:txBody>
      </p:sp>
      <p:sp>
        <p:nvSpPr>
          <p:cNvPr id="13" name="Text 11"/>
          <p:cNvSpPr/>
          <p:nvPr/>
        </p:nvSpPr>
        <p:spPr>
          <a:xfrm>
            <a:off x="2560320" y="1691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27AE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90.3%</a:t>
            </a:r>
            <a:endParaRPr lang="en-US" sz="3000"/>
          </a:p>
        </p:txBody>
      </p:sp>
      <p:sp>
        <p:nvSpPr>
          <p:cNvPr id="14" name="Text 12"/>
          <p:cNvSpPr/>
          <p:nvPr/>
        </p:nvSpPr>
        <p:spPr>
          <a:xfrm>
            <a:off x="256032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88,644 orders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4663440" y="123444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6" name="Shape 14"/>
          <p:cNvSpPr/>
          <p:nvPr/>
        </p:nvSpPr>
        <p:spPr>
          <a:xfrm>
            <a:off x="4663440" y="1234440"/>
            <a:ext cx="2011680" cy="109728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475488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F39C1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3.7%</a:t>
            </a:r>
            <a:endParaRPr lang="en-US" sz="3000"/>
          </a:p>
        </p:txBody>
      </p:sp>
      <p:sp>
        <p:nvSpPr>
          <p:cNvPr id="19" name="Text 17"/>
          <p:cNvSpPr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3,615 orders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6858000" y="1234440"/>
            <a:ext cx="20116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1" name="Shape 19"/>
          <p:cNvSpPr/>
          <p:nvPr/>
        </p:nvSpPr>
        <p:spPr>
          <a:xfrm>
            <a:off x="6858000" y="1234440"/>
            <a:ext cx="2011680" cy="109728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6949440" y="1417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LATE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6949440" y="16916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E74C3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4.3%</a:t>
            </a:r>
            <a:endParaRPr lang="en-US" sz="3000"/>
          </a:p>
        </p:txBody>
      </p:sp>
      <p:sp>
        <p:nvSpPr>
          <p:cNvPr id="24" name="Text 22"/>
          <p:cNvSpPr/>
          <p:nvPr/>
        </p:nvSpPr>
        <p:spPr>
          <a:xfrm>
            <a:off x="6949440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4,211 orders</a:t>
            </a:r>
            <a:endParaRPr lang="en-US" sz="1000"/>
          </a:p>
        </p:txBody>
      </p:sp>
      <p:sp>
        <p:nvSpPr>
          <p:cNvPr id="25" name="Shape 23"/>
          <p:cNvSpPr/>
          <p:nvPr/>
        </p:nvSpPr>
        <p:spPr>
          <a:xfrm>
            <a:off x="274320" y="3108960"/>
            <a:ext cx="8595360" cy="137160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6" name="Shape 24"/>
          <p:cNvSpPr/>
          <p:nvPr/>
        </p:nvSpPr>
        <p:spPr>
          <a:xfrm>
            <a:off x="274320" y="3108960"/>
            <a:ext cx="73152" cy="1371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7" name="Text 25"/>
          <p:cNvSpPr/>
          <p:nvPr/>
        </p:nvSpPr>
        <p:spPr>
          <a:xfrm>
            <a:off x="548640" y="3246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300"/>
          </a:p>
        </p:txBody>
      </p:sp>
      <p:sp>
        <p:nvSpPr>
          <p:cNvPr id="28" name="Text 26"/>
          <p:cNvSpPr/>
          <p:nvPr/>
        </p:nvSpPr>
        <p:spPr>
          <a:xfrm>
            <a:off x="548640" y="356616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90.3% of orders arrive on time, the remaining 8% represent nearly 8,000 customers who received packages significantly later than promised. Super Late (4.3%) exceeds Late (3.7%) , meaning when Veridi fails, they fail badly, not just by a day or two.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A REGIONAL PROBLEM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delivery rates mapped across all 27 Brazilian states</a:t>
            </a:r>
            <a:endParaRPr lang="en-US" sz="1300"/>
          </a:p>
        </p:txBody>
      </p:sp>
      <p:sp>
        <p:nvSpPr>
          <p:cNvPr id="5" name="Text 3"/>
          <p:cNvSpPr/>
          <p:nvPr/>
        </p:nvSpPr>
        <p:spPr>
          <a:xfrm>
            <a:off x="274320" y="12801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— Alagoas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2926080" y="1325880"/>
            <a:ext cx="4526280" cy="25603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7543800" y="12801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23.1%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274320" y="175564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 — Maranhao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2926080" y="1801368"/>
            <a:ext cx="3771900" cy="25603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6789420" y="175564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19.2%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274320" y="223113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 — Piaui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2926080" y="2276856"/>
            <a:ext cx="3017520" cy="25603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3" name="Text 11"/>
          <p:cNvSpPr/>
          <p:nvPr/>
        </p:nvSpPr>
        <p:spPr>
          <a:xfrm>
            <a:off x="6035040" y="2231136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15.5%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4320" y="270662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— Ceara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2926080" y="2752344"/>
            <a:ext cx="2866644" cy="25603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5884164" y="2706624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274320" y="318211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— Sergipe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2926080" y="3227832"/>
            <a:ext cx="2866644" cy="25603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9" name="Text 17"/>
          <p:cNvSpPr/>
          <p:nvPr/>
        </p:nvSpPr>
        <p:spPr>
          <a:xfrm>
            <a:off x="5884164" y="3182112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14.8%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27432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 — Sao Paulo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2926080" y="3703320"/>
            <a:ext cx="905256" cy="25603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3922776" y="365760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274320" y="413308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 — Minas Gerais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2926080" y="4178808"/>
            <a:ext cx="653796" cy="25603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5" name="Text 23"/>
          <p:cNvSpPr/>
          <p:nvPr/>
        </p:nvSpPr>
        <p:spPr>
          <a:xfrm>
            <a:off x="3671316" y="41330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3.2%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274320" y="4572000"/>
            <a:ext cx="8595360" cy="365760"/>
          </a:xfrm>
          <a:prstGeom prst="rect">
            <a:avLst/>
          </a:prstGeom>
          <a:solidFill>
            <a:srgbClr val="D6E8F7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7" name="Text 25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1A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critical states (AL, MA, PI) are in Brazil's northeast ,furthest from Sao Paulo's main distribution centers. This is a regional, not nationwide, problem.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SMOKING GUN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6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 Finding - Late deliveries directly cause bad customer reviews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1280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Time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>
          <a:xfrm>
            <a:off x="2011680" y="1325880"/>
            <a:ext cx="4663440" cy="274320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6812280" y="12801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4.29 / 5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858000" y="1280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274320" y="1783080"/>
            <a:ext cx="859536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0" name="Text 8"/>
          <p:cNvSpPr/>
          <p:nvPr/>
        </p:nvSpPr>
        <p:spPr>
          <a:xfrm>
            <a:off x="274320" y="2377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>
          <a:xfrm>
            <a:off x="2011680" y="2423160"/>
            <a:ext cx="3785616" cy="2743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5934456" y="2377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39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 / 5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6858000" y="2377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274320" y="2880360"/>
            <a:ext cx="859536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274320" y="3474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 Late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2011680" y="3520440"/>
            <a:ext cx="1920240" cy="2743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4069080" y="34747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1.78 / 5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274320" y="3977640"/>
            <a:ext cx="859536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Shape 18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2.51 point drop from On Time to Super Late proves logistics failure  not product quality or seller </a:t>
            </a:r>
            <a:r>
              <a:rPr lang="en-US" sz="1200" b="1" err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behaviour</a:t>
            </a:r>
            <a:r>
              <a:rPr lang="en-US" sz="12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driving negative reviews.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 IS GETTING WORSE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Candidate's Choice — Monthly late delivery rate trend analysis</a:t>
            </a:r>
            <a:endParaRPr lang="en-US" sz="13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035040" y="1280160"/>
            <a:ext cx="28346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7" name="Shape 4"/>
          <p:cNvSpPr/>
          <p:nvPr/>
        </p:nvSpPr>
        <p:spPr>
          <a:xfrm>
            <a:off x="6035040" y="1280160"/>
            <a:ext cx="457200" cy="658368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8" name="Text 5"/>
          <p:cNvSpPr/>
          <p:nvPr/>
        </p:nvSpPr>
        <p:spPr>
          <a:xfrm>
            <a:off x="6035040" y="1280160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600"/>
          </a:p>
        </p:txBody>
      </p:sp>
      <p:sp>
        <p:nvSpPr>
          <p:cNvPr id="9" name="Text 6"/>
          <p:cNvSpPr/>
          <p:nvPr/>
        </p:nvSpPr>
        <p:spPr>
          <a:xfrm>
            <a:off x="6583680" y="135331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is WORSENING over time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6035040" y="2084832"/>
            <a:ext cx="28346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8"/>
          <p:cNvSpPr/>
          <p:nvPr/>
        </p:nvSpPr>
        <p:spPr>
          <a:xfrm>
            <a:off x="6035040" y="2084832"/>
            <a:ext cx="457200" cy="658368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2" name="Text 9"/>
          <p:cNvSpPr/>
          <p:nvPr/>
        </p:nvSpPr>
        <p:spPr>
          <a:xfrm>
            <a:off x="6035040" y="2084832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1600"/>
          </a:p>
        </p:txBody>
      </p:sp>
      <p:sp>
        <p:nvSpPr>
          <p:cNvPr id="13" name="Text 10"/>
          <p:cNvSpPr/>
          <p:nvPr/>
        </p:nvSpPr>
        <p:spPr>
          <a:xfrm>
            <a:off x="6583680" y="2157984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customers failed each month</a:t>
            </a:r>
            <a:endParaRPr lang="en-US" sz="1200"/>
          </a:p>
        </p:txBody>
      </p:sp>
      <p:sp>
        <p:nvSpPr>
          <p:cNvPr id="14" name="Shape 11"/>
          <p:cNvSpPr/>
          <p:nvPr/>
        </p:nvSpPr>
        <p:spPr>
          <a:xfrm>
            <a:off x="6035040" y="2889504"/>
            <a:ext cx="28346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5" name="Shape 12"/>
          <p:cNvSpPr/>
          <p:nvPr/>
        </p:nvSpPr>
        <p:spPr>
          <a:xfrm>
            <a:off x="6035040" y="2889504"/>
            <a:ext cx="457200" cy="658368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6" name="Text 13"/>
          <p:cNvSpPr/>
          <p:nvPr/>
        </p:nvSpPr>
        <p:spPr>
          <a:xfrm>
            <a:off x="6035040" y="2889504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>
          <a:xfrm>
            <a:off x="6583680" y="2962656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repeat purchases expected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6035040" y="3694176"/>
            <a:ext cx="283464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9" name="Shape 16"/>
          <p:cNvSpPr/>
          <p:nvPr/>
        </p:nvSpPr>
        <p:spPr>
          <a:xfrm>
            <a:off x="6035040" y="3694176"/>
            <a:ext cx="457200" cy="658368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0" name="Text 17"/>
          <p:cNvSpPr/>
          <p:nvPr/>
        </p:nvSpPr>
        <p:spPr>
          <a:xfrm>
            <a:off x="6035040" y="3694176"/>
            <a:ext cx="457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600"/>
          </a:p>
        </p:txBody>
      </p:sp>
      <p:sp>
        <p:nvSpPr>
          <p:cNvPr id="21" name="Text 18"/>
          <p:cNvSpPr/>
          <p:nvPr/>
        </p:nvSpPr>
        <p:spPr>
          <a:xfrm>
            <a:off x="6583680" y="376732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decline risk increasing</a:t>
            </a:r>
            <a:endParaRPr lang="en-US" sz="1200"/>
          </a:p>
        </p:txBody>
      </p:sp>
      <p:sp>
        <p:nvSpPr>
          <p:cNvPr id="22" name="Shape 19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3" name="Text 20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urgent intervention, this compounds  each month more customers are failed, driving a cycle of bad reviews and lost revenue.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2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RECOMMENDATIONS</a:t>
            </a:r>
            <a:endParaRPr lang="en-US" sz="180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D6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Veridi Should Do Now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859536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6" name="Shape 4"/>
          <p:cNvSpPr/>
          <p:nvPr/>
        </p:nvSpPr>
        <p:spPr>
          <a:xfrm>
            <a:off x="274320" y="1280160"/>
            <a:ext cx="457200" cy="62179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/>
          </a:p>
        </p:txBody>
      </p:sp>
      <p:sp>
        <p:nvSpPr>
          <p:cNvPr id="8" name="Text 6"/>
          <p:cNvSpPr/>
          <p:nvPr/>
        </p:nvSpPr>
        <p:spPr>
          <a:xfrm>
            <a:off x="868680" y="135331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repair efforts on AL, MA and PI immediately ,these 3 states account for the worst late delivery rates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274320" y="2029968"/>
            <a:ext cx="859536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457200" cy="62179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1" name="Text 9"/>
          <p:cNvSpPr/>
          <p:nvPr/>
        </p:nvSpPr>
        <p:spPr>
          <a:xfrm>
            <a:off x="274320" y="2029968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/>
          </a:p>
        </p:txBody>
      </p:sp>
      <p:sp>
        <p:nvSpPr>
          <p:cNvPr id="12" name="Text 10"/>
          <p:cNvSpPr/>
          <p:nvPr/>
        </p:nvSpPr>
        <p:spPr>
          <a:xfrm>
            <a:off x="868680" y="210312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local couriers in northeast Brazil to reduce reliance on long-haul shipping routes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274320" y="2779776"/>
            <a:ext cx="859536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4" name="Shape 12"/>
          <p:cNvSpPr/>
          <p:nvPr/>
        </p:nvSpPr>
        <p:spPr>
          <a:xfrm>
            <a:off x="274320" y="2779776"/>
            <a:ext cx="457200" cy="621792"/>
          </a:xfrm>
          <a:prstGeom prst="rect">
            <a:avLst/>
          </a:prstGeom>
          <a:solidFill>
            <a:srgbClr val="2D6FA6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274320" y="2779776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868680" y="2852928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region-specific delivery estimates , stop promising the same date to all customers regardless of location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74320" y="3529584"/>
            <a:ext cx="859536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8" name="Shape 16"/>
          <p:cNvSpPr/>
          <p:nvPr/>
        </p:nvSpPr>
        <p:spPr>
          <a:xfrm>
            <a:off x="274320" y="3529584"/>
            <a:ext cx="457200" cy="62179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19" name="Text 17"/>
          <p:cNvSpPr/>
          <p:nvPr/>
        </p:nvSpPr>
        <p:spPr>
          <a:xfrm>
            <a:off x="274320" y="3529584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/>
          </a:p>
        </p:txBody>
      </p:sp>
      <p:sp>
        <p:nvSpPr>
          <p:cNvPr id="20" name="Text 18"/>
          <p:cNvSpPr/>
          <p:nvPr/>
        </p:nvSpPr>
        <p:spPr>
          <a:xfrm>
            <a:off x="868680" y="3602736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monthly late rate and target below 5% ,the current worsening trend requires urgent intervention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274320" y="4279392"/>
            <a:ext cx="8595360" cy="62179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2" name="Shape 20"/>
          <p:cNvSpPr/>
          <p:nvPr/>
        </p:nvSpPr>
        <p:spPr>
          <a:xfrm>
            <a:off x="274320" y="4279392"/>
            <a:ext cx="457200" cy="621792"/>
          </a:xfrm>
          <a:prstGeom prst="rect">
            <a:avLst/>
          </a:prstGeom>
          <a:solidFill>
            <a:srgbClr val="27AE60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23" name="Text 21"/>
          <p:cNvSpPr/>
          <p:nvPr/>
        </p:nvSpPr>
        <p:spPr>
          <a:xfrm>
            <a:off x="274320" y="4279392"/>
            <a:ext cx="457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/>
          </a:p>
        </p:txBody>
      </p:sp>
      <p:sp>
        <p:nvSpPr>
          <p:cNvPr id="24" name="Text 22"/>
          <p:cNvSpPr/>
          <p:nvPr/>
        </p:nvSpPr>
        <p:spPr>
          <a:xfrm>
            <a:off x="868680" y="4352544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Food and Home Comfort categories for priority shipping , they have the smallest early delivery margins</a:t>
            </a:r>
            <a:endParaRPr lang="en-US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D6FA6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4" name="Shape 2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1A3A5C"/>
          </a:solidFill>
          <a:ln/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457200" y="110871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kern="0" spc="60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80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371600" y="237744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f70ad68-4eca-4ffe-ad9d-60bfae449e23}" enabled="1" method="Standard" siteId="{b20a8f4d-0d6a-4f2e-83a2-181c968f888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565</Words>
  <Application>Microsoft Office PowerPoint</Application>
  <PresentationFormat>On-screen Show (16:9)</PresentationFormat>
  <Paragraphs>113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Veridi Logistics Delivery Performance Audit</dc:title>
  <dc:subject>PptxGenJS Presentation</dc:subject>
  <dc:creator>Angela Tenkorang</dc:creator>
  <cp:lastModifiedBy>Angela Tenkorang</cp:lastModifiedBy>
  <cp:revision>1</cp:revision>
  <dcterms:created xsi:type="dcterms:W3CDTF">2026-04-27T09:56:45Z</dcterms:created>
  <dcterms:modified xsi:type="dcterms:W3CDTF">2026-04-27T11:03:27Z</dcterms:modified>
</cp:coreProperties>
</file>