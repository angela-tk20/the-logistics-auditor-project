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Oct-16</c:v>
                </c:pt>
                <c:pt idx="1">
                  <c:v>Jan-17</c:v>
                </c:pt>
                <c:pt idx="2">
                  <c:v>Apr-17</c:v>
                </c:pt>
                <c:pt idx="3">
                  <c:v>Jul-17</c:v>
                </c:pt>
                <c:pt idx="4">
                  <c:v>Oct-17</c:v>
                </c:pt>
                <c:pt idx="5">
                  <c:v>Jan-18</c:v>
                </c:pt>
                <c:pt idx="6">
                  <c:v>Apr-18</c:v>
                </c:pt>
                <c:pt idx="7">
                  <c:v>Jul-18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3.2</c:v>
                </c:pt>
                <c:pt idx="1">
                  <c:v>4.0999999999999996</c:v>
                </c:pt>
                <c:pt idx="2">
                  <c:v>5.8</c:v>
                </c:pt>
                <c:pt idx="3">
                  <c:v>6.2</c:v>
                </c:pt>
                <c:pt idx="4">
                  <c:v>7.5</c:v>
                </c:pt>
                <c:pt idx="5">
                  <c:v>9.1</c:v>
                </c:pt>
                <c:pt idx="6">
                  <c:v>11.3</c:v>
                </c:pt>
                <c:pt idx="7">
                  <c:v>8.6999999999999993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DD-4C69-9D80-17EED5E9B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92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H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FA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VERIDI LOGISTICS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Performance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2286000"/>
            <a:ext cx="3657600" cy="0"/>
          </a:xfrm>
          <a:prstGeom prst="line">
            <a:avLst/>
          </a:prstGeom>
          <a:noFill/>
          <a:ln w="25400">
            <a:solidFill>
              <a:srgbClr val="2D6FA6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Brazilian E-Commerce Dataset  |  98,207 Orders Audited 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Angela Tenkorang  |  AmaliTech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CEO's Question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5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we failing specific regions</a:t>
            </a:r>
            <a:endParaRPr lang="en-US" sz="1800" dirty="0"/>
          </a:p>
          <a:p>
            <a:pPr marL="0" indent="0">
              <a:buNone/>
            </a:pPr>
            <a:r>
              <a:rPr lang="en-US" sz="15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is this a nationwide problem?"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in negative customer reviews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dates suspected to be over-promised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to pinpoint the root cause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98,207 orders audited across Brazil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2560320" cy="91440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8" name="Text 6"/>
          <p:cNvSpPr/>
          <p:nvPr/>
        </p:nvSpPr>
        <p:spPr>
          <a:xfrm>
            <a:off x="621792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Lost Revenue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2560320" cy="914400"/>
          </a:xfrm>
          <a:prstGeom prst="rect">
            <a:avLst/>
          </a:prstGeom>
          <a:solidFill>
            <a:srgbClr val="F39C1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 Reviews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3291840"/>
            <a:ext cx="2560320" cy="914400"/>
          </a:xfrm>
          <a:prstGeom prst="rect">
            <a:avLst/>
          </a:prstGeom>
          <a:solidFill>
            <a:srgbClr val="2D6FA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6217920" y="3291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Root Cause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audit connects the dots between logistics data and customer sentiment.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SPRINT-BASED APPROACH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was broken into structured sprints ,each with a clear goal and deliverable, building on the previous.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57200" cy="1463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4 CSV files into one clean master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457200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Calculator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Days_Difference and classify On Time / Late / Super Late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457200" cy="1463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15"/>
          <p:cNvSpPr/>
          <p:nvPr/>
        </p:nvSpPr>
        <p:spPr>
          <a:xfrm>
            <a:off x="6217920" y="128016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late delivery rates across all 27 Brazilian states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57200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274320" y="30175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 Gun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that late deliveries directly cause bad customer reviews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6" name="Shape 24"/>
          <p:cNvSpPr/>
          <p:nvPr/>
        </p:nvSpPr>
        <p:spPr>
          <a:xfrm>
            <a:off x="3246120" y="3017520"/>
            <a:ext cx="457200" cy="1463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5"/>
          <p:cNvSpPr/>
          <p:nvPr/>
        </p:nvSpPr>
        <p:spPr>
          <a:xfrm>
            <a:off x="3246120" y="30175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9476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9476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product categories from Portuguese to English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45720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2" name="Text 30"/>
          <p:cNvSpPr/>
          <p:nvPr/>
        </p:nvSpPr>
        <p:spPr>
          <a:xfrm>
            <a:off x="6217920" y="30175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whether the problem is getting better or worse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PERFORMANCE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1097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98,207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delivered 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2011680" cy="1097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25603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88,644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2011680" cy="10972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3,615 orders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23444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1" name="Shape 19"/>
          <p:cNvSpPr/>
          <p:nvPr/>
        </p:nvSpPr>
        <p:spPr>
          <a:xfrm>
            <a:off x="6858000" y="1234440"/>
            <a:ext cx="2011680" cy="1097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69494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494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4,211 orders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8595360" cy="137160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6" name="Shape 24"/>
          <p:cNvSpPr/>
          <p:nvPr/>
        </p:nvSpPr>
        <p:spPr>
          <a:xfrm>
            <a:off x="274320" y="3108960"/>
            <a:ext cx="73152" cy="1371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5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90.3% of orders arrive on time, the remaining 8% represent nearly 8,000 customers who received packages significantly later than promised. Super Late (4.3%) exceeds Late (3.7%) , meaning when Veridi fails, they fail badly, not just by a day or two.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IS A REGIONAL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delivery rates mapped across all 27 Brazilian states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— Alagoas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325880"/>
            <a:ext cx="4526280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754380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— Maranhao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801368"/>
            <a:ext cx="3771900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789420" y="17556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2311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— Piaui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276856"/>
            <a:ext cx="3017520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3" name="Text 11"/>
          <p:cNvSpPr/>
          <p:nvPr/>
        </p:nvSpPr>
        <p:spPr>
          <a:xfrm>
            <a:off x="6035040" y="223113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— Ceara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752344"/>
            <a:ext cx="2866644" cy="25603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4"/>
          <p:cNvSpPr/>
          <p:nvPr/>
        </p:nvSpPr>
        <p:spPr>
          <a:xfrm>
            <a:off x="5884164" y="270662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— Sergipe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3227832"/>
            <a:ext cx="2866644" cy="25603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9" name="Text 17"/>
          <p:cNvSpPr/>
          <p:nvPr/>
        </p:nvSpPr>
        <p:spPr>
          <a:xfrm>
            <a:off x="5884164" y="31821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— Sao Paulo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3703320"/>
            <a:ext cx="905256" cy="2560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3922776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330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 — Minas Gerais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4178808"/>
            <a:ext cx="653796" cy="2560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5" name="Text 23"/>
          <p:cNvSpPr/>
          <p:nvPr/>
        </p:nvSpPr>
        <p:spPr>
          <a:xfrm>
            <a:off x="3671316" y="41330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D6E8F7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critical states (AL, MA, PI) are in Brazil's northeast ,furthest from Sao Paulo's main distribution centers. This is a regional, not nationwide, problem.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SMOKING GUN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Finding — Late deliveries directly cause bad customer reviews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325880"/>
            <a:ext cx="466344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681228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4.29 /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2423160"/>
            <a:ext cx="3785616" cy="274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5934456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3.46 / 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5" name="Text 13"/>
          <p:cNvSpPr/>
          <p:nvPr/>
        </p:nvSpPr>
        <p:spPr>
          <a:xfrm>
            <a:off x="27432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1680" y="3520440"/>
            <a:ext cx="192024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15"/>
          <p:cNvSpPr/>
          <p:nvPr/>
        </p:nvSpPr>
        <p:spPr>
          <a:xfrm>
            <a:off x="406908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1.78 / 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2.51 point drop from On Time to Super Late proves logistics failure  not product quality or seller </a:t>
            </a:r>
            <a:r>
              <a:rPr lang="en-US" sz="1200" b="1" dirty="0" err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driving negative reviews.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IS GETTING WORSE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Candidate's Choice — Monthly late delivery rate trend analysis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8346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7" name="Shape 4"/>
          <p:cNvSpPr/>
          <p:nvPr/>
        </p:nvSpPr>
        <p:spPr>
          <a:xfrm>
            <a:off x="6035040" y="1280160"/>
            <a:ext cx="457200" cy="6583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8" name="Text 5"/>
          <p:cNvSpPr/>
          <p:nvPr/>
        </p:nvSpPr>
        <p:spPr>
          <a:xfrm>
            <a:off x="6035040" y="12801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135331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is WORSENING over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084832"/>
            <a:ext cx="28346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8"/>
          <p:cNvSpPr/>
          <p:nvPr/>
        </p:nvSpPr>
        <p:spPr>
          <a:xfrm>
            <a:off x="6035040" y="2084832"/>
            <a:ext cx="457200" cy="65836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9"/>
          <p:cNvSpPr/>
          <p:nvPr/>
        </p:nvSpPr>
        <p:spPr>
          <a:xfrm>
            <a:off x="6035040" y="20848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2157984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customers failed each month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2889504"/>
            <a:ext cx="28346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5" name="Shape 12"/>
          <p:cNvSpPr/>
          <p:nvPr/>
        </p:nvSpPr>
        <p:spPr>
          <a:xfrm>
            <a:off x="6035040" y="2889504"/>
            <a:ext cx="457200" cy="65836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3"/>
          <p:cNvSpPr/>
          <p:nvPr/>
        </p:nvSpPr>
        <p:spPr>
          <a:xfrm>
            <a:off x="6035040" y="28895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296265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repeat purchases expected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694176"/>
            <a:ext cx="28346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9" name="Shape 16"/>
          <p:cNvSpPr/>
          <p:nvPr/>
        </p:nvSpPr>
        <p:spPr>
          <a:xfrm>
            <a:off x="6035040" y="3694176"/>
            <a:ext cx="457200" cy="6583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0" name="Text 17"/>
          <p:cNvSpPr/>
          <p:nvPr/>
        </p:nvSpPr>
        <p:spPr>
          <a:xfrm>
            <a:off x="6035040" y="369417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376732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decline risk increasing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3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urgent intervention, this compounds  each month more customers are failed, driving a cycle of bad reviews and lost revenue.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Veridi Should Do Now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57200" cy="62179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35331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repair efforts on AL, MA and PI immediately ,these 3 states account for the worst late delivery rates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457200" cy="62179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1031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local couriers in northeast Brazil to reduce reliance on long-haul shipping routes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457200" cy="621792"/>
          </a:xfrm>
          <a:prstGeom prst="rect">
            <a:avLst/>
          </a:prstGeom>
          <a:solidFill>
            <a:srgbClr val="2D6FA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5" name="Text 13"/>
          <p:cNvSpPr/>
          <p:nvPr/>
        </p:nvSpPr>
        <p:spPr>
          <a:xfrm>
            <a:off x="274320" y="277977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8529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region-specific delivery estimates , stop promising the same date to all customers regardless of location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29584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457200" cy="6217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9" name="Text 17"/>
          <p:cNvSpPr/>
          <p:nvPr/>
        </p:nvSpPr>
        <p:spPr>
          <a:xfrm>
            <a:off x="274320" y="35295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60273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monthly late rate and target below 5% ,the current worsening trend requires urgent intervention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279392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457200" cy="62179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3" name="Text 21"/>
          <p:cNvSpPr/>
          <p:nvPr/>
        </p:nvSpPr>
        <p:spPr>
          <a:xfrm>
            <a:off x="274320" y="427939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435254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Food and Home Comfort categories for priority shipping , they have the smallest early delivery margins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H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FA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GH" dirty="0"/>
          </a:p>
        </p:txBody>
      </p:sp>
      <p:sp>
        <p:nvSpPr>
          <p:cNvPr id="5" name="Text 3"/>
          <p:cNvSpPr/>
          <p:nvPr/>
        </p:nvSpPr>
        <p:spPr>
          <a:xfrm>
            <a:off x="457200" y="110871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f70ad68-4eca-4ffe-ad9d-60bfae449e23}" enabled="1" method="Standard" siteId="{b20a8f4d-0d6a-4f2e-83a2-181c968f888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565</Words>
  <Application>Microsoft Office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 Logistics Delivery Performance Audit</dc:title>
  <dc:subject>PptxGenJS Presentation</dc:subject>
  <dc:creator>Angela Tenkorang</dc:creator>
  <cp:lastModifiedBy>Angela Tenkorang</cp:lastModifiedBy>
  <cp:revision>2</cp:revision>
  <dcterms:created xsi:type="dcterms:W3CDTF">2026-04-27T09:56:45Z</dcterms:created>
  <dcterms:modified xsi:type="dcterms:W3CDTF">2026-04-27T10:14:43Z</dcterms:modified>
</cp:coreProperties>
</file>